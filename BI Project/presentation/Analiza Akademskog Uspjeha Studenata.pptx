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Inter"/>
      <p:regular r:id="rId17"/>
      <p:bold r:id="rId18"/>
      <p:italic r:id="rId19"/>
      <p:boldItalic r:id="rId20"/>
    </p:embeddedFont>
    <p:embeddedFont>
      <p:font typeface="Petron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7.xml"/><Relationship Id="rId22" Type="http://schemas.openxmlformats.org/officeDocument/2006/relationships/font" Target="fonts/Petrona-bold.fntdata"/><Relationship Id="rId10" Type="http://schemas.openxmlformats.org/officeDocument/2006/relationships/slide" Target="slides/slide6.xml"/><Relationship Id="rId21" Type="http://schemas.openxmlformats.org/officeDocument/2006/relationships/font" Target="fonts/Petrona-regular.fntdata"/><Relationship Id="rId13" Type="http://schemas.openxmlformats.org/officeDocument/2006/relationships/slide" Target="slides/slide9.xml"/><Relationship Id="rId24" Type="http://schemas.openxmlformats.org/officeDocument/2006/relationships/font" Target="fonts/Petrona-boldItalic.fntdata"/><Relationship Id="rId12" Type="http://schemas.openxmlformats.org/officeDocument/2006/relationships/slide" Target="slides/slide8.xml"/><Relationship Id="rId23" Type="http://schemas.openxmlformats.org/officeDocument/2006/relationships/font" Target="fonts/Petrona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italic.fntdata"/><Relationship Id="rId6" Type="http://schemas.openxmlformats.org/officeDocument/2006/relationships/slide" Target="slides/slide2.xml"/><Relationship Id="rId18" Type="http://schemas.openxmlformats.org/officeDocument/2006/relationships/font" Target="fonts/Int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c5b95c234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c5b95c234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bc5b95c234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6280190" y="3018949"/>
            <a:ext cx="7556421" cy="1488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Analiza Akademskog Uspjeha Studenata</a:t>
            </a:r>
            <a:endParaRPr b="0" i="0" sz="4650" u="none" cap="none" strike="noStrike"/>
          </a:p>
        </p:txBody>
      </p:sp>
      <p:sp>
        <p:nvSpPr>
          <p:cNvPr id="60" name="Google Shape;60;p14"/>
          <p:cNvSpPr/>
          <p:nvPr/>
        </p:nvSpPr>
        <p:spPr>
          <a:xfrm>
            <a:off x="6280190" y="4847630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Warehouse i BI izvještaj</a:t>
            </a:r>
            <a:endParaRPr b="0" i="0" sz="1750" u="none" cap="none" strike="noStrike"/>
          </a:p>
        </p:txBody>
      </p:sp>
      <p:sp>
        <p:nvSpPr>
          <p:cNvPr id="61" name="Google Shape;61;p14"/>
          <p:cNvSpPr/>
          <p:nvPr/>
        </p:nvSpPr>
        <p:spPr>
          <a:xfrm>
            <a:off x="12585725" y="75242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4251392" y="1238141"/>
            <a:ext cx="59541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PROBLEM I CILJ</a:t>
            </a:r>
            <a:endParaRPr b="0" i="0" sz="4650" u="none" cap="none" strike="noStrike"/>
          </a:p>
        </p:txBody>
      </p:sp>
      <p:sp>
        <p:nvSpPr>
          <p:cNvPr id="68" name="Google Shape;68;p15"/>
          <p:cNvSpPr/>
          <p:nvPr/>
        </p:nvSpPr>
        <p:spPr>
          <a:xfrm>
            <a:off x="793790" y="3007276"/>
            <a:ext cx="3572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etrona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PROBLEM</a:t>
            </a:r>
            <a:endParaRPr b="0" i="0" sz="3000" u="none" cap="none" strike="noStrike"/>
          </a:p>
        </p:txBody>
      </p:sp>
      <p:sp>
        <p:nvSpPr>
          <p:cNvPr id="69" name="Google Shape;69;p15"/>
          <p:cNvSpPr/>
          <p:nvPr/>
        </p:nvSpPr>
        <p:spPr>
          <a:xfrm>
            <a:off x="606400" y="3848724"/>
            <a:ext cx="6141600" cy="23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4175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Inter"/>
              <a:buChar char="•"/>
            </a:pPr>
            <a:r>
              <a:rPr b="0" i="0" lang="en-US" sz="2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Visok broj studenata koji padaju ili napuštaju studij</a:t>
            </a:r>
            <a:endParaRPr b="0" i="0" sz="2400" u="none" cap="none" strike="noStrike"/>
          </a:p>
          <a:p>
            <a:pPr indent="-384175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Inter"/>
              <a:buChar char="•"/>
            </a:pPr>
            <a:r>
              <a:rPr b="0" i="0" lang="en-US" sz="2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Nema ranog uvida u rizične studente</a:t>
            </a:r>
            <a:endParaRPr b="0" i="0" sz="2400" u="none" cap="none" strike="noStrike"/>
          </a:p>
          <a:p>
            <a:pPr indent="-384175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Inter"/>
              <a:buChar char="•"/>
            </a:pPr>
            <a:r>
              <a:rPr b="0" i="0" lang="en-US" sz="2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Odluke se donose reaktivno, bez podataka</a:t>
            </a:r>
            <a:endParaRPr b="0" i="0" sz="2400" u="none" cap="none" strike="noStrike"/>
          </a:p>
        </p:txBody>
      </p:sp>
      <p:sp>
        <p:nvSpPr>
          <p:cNvPr id="70" name="Google Shape;70;p15"/>
          <p:cNvSpPr/>
          <p:nvPr/>
        </p:nvSpPr>
        <p:spPr>
          <a:xfrm>
            <a:off x="7661396" y="3007326"/>
            <a:ext cx="3572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etrona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CILJ</a:t>
            </a:r>
            <a:endParaRPr b="0" i="0" sz="3000" u="none" cap="none" strike="noStrike"/>
          </a:p>
        </p:txBody>
      </p:sp>
      <p:sp>
        <p:nvSpPr>
          <p:cNvPr id="71" name="Google Shape;71;p15"/>
          <p:cNvSpPr/>
          <p:nvPr/>
        </p:nvSpPr>
        <p:spPr>
          <a:xfrm>
            <a:off x="7537646" y="3848718"/>
            <a:ext cx="62448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4175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Inter"/>
              <a:buChar char="•"/>
            </a:pPr>
            <a:r>
              <a:rPr b="0" i="0" lang="en-US" sz="2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Analizirati uspjeh studenata kroz BI sistem</a:t>
            </a:r>
            <a:endParaRPr b="0" i="0" sz="2400" u="none" cap="none" strike="noStrike"/>
          </a:p>
          <a:p>
            <a:pPr indent="-384175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Inter"/>
              <a:buChar char="•"/>
            </a:pPr>
            <a:r>
              <a:rPr b="0" i="0" lang="en-US" sz="2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Identifikovati ključne faktore uspjeha</a:t>
            </a:r>
            <a:endParaRPr b="0" i="0" sz="2400" u="none" cap="none" strike="noStrike"/>
          </a:p>
          <a:p>
            <a:pPr indent="-384175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Inter"/>
              <a:buChar char="•"/>
            </a:pPr>
            <a:r>
              <a:rPr b="0" i="0" lang="en-US" sz="2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Omogućiti podatkovno vođene odluke i ranu intervenciju</a:t>
            </a:r>
            <a:endParaRPr b="0" i="0" sz="2400" u="none" cap="none" strike="noStrike"/>
          </a:p>
        </p:txBody>
      </p:sp>
      <p:sp>
        <p:nvSpPr>
          <p:cNvPr id="72" name="Google Shape;72;p15"/>
          <p:cNvSpPr/>
          <p:nvPr/>
        </p:nvSpPr>
        <p:spPr>
          <a:xfrm>
            <a:off x="12573350" y="75984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12573350" y="75984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50" y="1245525"/>
            <a:ext cx="13124301" cy="56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12573350" y="75984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575" y="1515450"/>
            <a:ext cx="14153250" cy="51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>
            <a:off x="793790" y="997863"/>
            <a:ext cx="12181284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PROSJEČNA ZAVRŠNA OCJENA PO ODSJEKU</a:t>
            </a:r>
            <a:endParaRPr b="0" i="0" sz="4650" u="none" cap="none" strike="noStrike"/>
          </a:p>
        </p:txBody>
      </p:sp>
      <p:pic>
        <p:nvPicPr>
          <p:cNvPr descr="preencoded.png"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37435"/>
            <a:ext cx="8284131" cy="46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9638943" y="2286357"/>
            <a:ext cx="4205168" cy="2903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Business odsjek ima najvišu prosječnu završnu ocjenu</a:t>
            </a:r>
            <a:endParaRPr b="0" i="0" sz="1950" u="none" cap="none" strike="noStrike"/>
          </a:p>
          <a:p>
            <a:pPr indent="-355600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CS odsjek ima najniži prosjek</a:t>
            </a:r>
            <a:endParaRPr b="0" i="0" sz="1950" u="none" cap="none" strike="noStrike"/>
          </a:p>
          <a:p>
            <a:pPr indent="-355600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Postoje vidljive razlike u akademskom uspjehu među odsjecima</a:t>
            </a:r>
            <a:endParaRPr b="0" i="0" sz="1950" u="none" cap="none" strike="noStrike"/>
          </a:p>
          <a:p>
            <a:pPr indent="-355600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Rezultati ukazuju na različite potrebe za podrškom po odsjeku</a:t>
            </a:r>
            <a:endParaRPr b="0" i="0" sz="1950" u="none" cap="none" strike="noStrike"/>
          </a:p>
        </p:txBody>
      </p:sp>
      <p:sp>
        <p:nvSpPr>
          <p:cNvPr id="95" name="Google Shape;95;p18"/>
          <p:cNvSpPr/>
          <p:nvPr/>
        </p:nvSpPr>
        <p:spPr>
          <a:xfrm>
            <a:off x="12585725" y="75242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793800" y="752725"/>
            <a:ext cx="13611000" cy="14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STRUKTURA UKUPNIH BODOVA PO</a:t>
            </a:r>
            <a:r>
              <a:rPr b="1" lang="en-US" sz="4650">
                <a:latin typeface="Petrona"/>
                <a:ea typeface="Petrona"/>
                <a:cs typeface="Petrona"/>
                <a:sym typeface="Petrona"/>
              </a:rPr>
              <a:t> </a:t>
            </a: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ODSJECIMA</a:t>
            </a:r>
            <a:endParaRPr b="0" i="0" sz="4650" u="none" cap="none" strike="noStrike"/>
          </a:p>
        </p:txBody>
      </p:sp>
      <p:sp>
        <p:nvSpPr>
          <p:cNvPr id="102" name="Google Shape;102;p19"/>
          <p:cNvSpPr/>
          <p:nvPr/>
        </p:nvSpPr>
        <p:spPr>
          <a:xfrm>
            <a:off x="693025" y="2400825"/>
            <a:ext cx="5093400" cy="4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Business odsjek ima najveći udio u ukupnim bodovima</a:t>
            </a:r>
            <a:endParaRPr i="0" sz="1850" u="none" cap="none" strike="noStrike"/>
          </a:p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CS, Engineering i Mathematics imaju manje, ali uporedive udjele</a:t>
            </a:r>
            <a:endParaRPr i="0" sz="1850" u="none" cap="none" strike="noStrike"/>
          </a:p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Graf prikazuje raspodjelu opterećenja sistema, a ne uspješnost</a:t>
            </a:r>
            <a:endParaRPr i="0" sz="1850" u="none" cap="none" strike="noStrike"/>
          </a:p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Veći udio može ukazivati na veći broj studenata ili veći obim nastave</a:t>
            </a:r>
            <a:endParaRPr i="0" sz="1850" u="none" cap="none" strike="noStrike"/>
          </a:p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Ovaj uvid daje kontekst za poređenje prosječnih ocjena po odsjeku</a:t>
            </a:r>
            <a:endParaRPr i="0" sz="1850" u="none" cap="none" strike="noStrike"/>
          </a:p>
        </p:txBody>
      </p:sp>
      <p:pic>
        <p:nvPicPr>
          <p:cNvPr descr="preencoded.png" id="103" name="Google Shape;1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7901" y="2444528"/>
            <a:ext cx="8573227" cy="451992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6560820" y="6677960"/>
            <a:ext cx="226814" cy="226814"/>
          </a:xfrm>
          <a:prstGeom prst="roundRect">
            <a:avLst>
              <a:gd fmla="val 8063" name="adj"/>
            </a:avLst>
          </a:prstGeom>
          <a:solidFill>
            <a:srgbClr val="0033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6848594" y="6677960"/>
            <a:ext cx="96238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Business</a:t>
            </a:r>
            <a:endParaRPr b="0" i="0" sz="1750" u="none" cap="none" strike="noStrike"/>
          </a:p>
        </p:txBody>
      </p:sp>
      <p:sp>
        <p:nvSpPr>
          <p:cNvPr id="106" name="Google Shape;106;p19"/>
          <p:cNvSpPr/>
          <p:nvPr/>
        </p:nvSpPr>
        <p:spPr>
          <a:xfrm>
            <a:off x="8585478" y="6677960"/>
            <a:ext cx="226814" cy="226814"/>
          </a:xfrm>
          <a:prstGeom prst="roundRect">
            <a:avLst>
              <a:gd fmla="val 8063" name="adj"/>
            </a:avLst>
          </a:prstGeom>
          <a:solidFill>
            <a:srgbClr val="006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8873252" y="6677960"/>
            <a:ext cx="31111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CS</a:t>
            </a:r>
            <a:endParaRPr b="0" i="0" sz="1750" u="none" cap="none" strike="noStrike"/>
          </a:p>
        </p:txBody>
      </p:sp>
      <p:sp>
        <p:nvSpPr>
          <p:cNvPr id="108" name="Google Shape;108;p19"/>
          <p:cNvSpPr/>
          <p:nvPr/>
        </p:nvSpPr>
        <p:spPr>
          <a:xfrm>
            <a:off x="10097572" y="6677960"/>
            <a:ext cx="226814" cy="226814"/>
          </a:xfrm>
          <a:prstGeom prst="roundRect">
            <a:avLst>
              <a:gd fmla="val 8063" name="adj"/>
            </a:avLst>
          </a:prstGeom>
          <a:solidFill>
            <a:srgbClr val="03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10385346" y="6677960"/>
            <a:ext cx="127789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Engineering</a:t>
            </a:r>
            <a:endParaRPr b="0" i="0" sz="1750" u="none" cap="none" strike="noStrike"/>
          </a:p>
        </p:txBody>
      </p:sp>
      <p:sp>
        <p:nvSpPr>
          <p:cNvPr id="110" name="Google Shape;110;p19"/>
          <p:cNvSpPr/>
          <p:nvPr/>
        </p:nvSpPr>
        <p:spPr>
          <a:xfrm>
            <a:off x="11954351" y="6677960"/>
            <a:ext cx="226814" cy="226814"/>
          </a:xfrm>
          <a:prstGeom prst="roundRect">
            <a:avLst>
              <a:gd fmla="val 8063" name="adj"/>
            </a:avLst>
          </a:prstGeom>
          <a:solidFill>
            <a:srgbClr val="5DC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12242125" y="6677960"/>
            <a:ext cx="137660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Mathematics</a:t>
            </a:r>
            <a:endParaRPr b="0" i="0" sz="1750" u="none" cap="none" strike="noStrike"/>
          </a:p>
        </p:txBody>
      </p:sp>
      <p:sp>
        <p:nvSpPr>
          <p:cNvPr id="112" name="Google Shape;112;p19"/>
          <p:cNvSpPr/>
          <p:nvPr/>
        </p:nvSpPr>
        <p:spPr>
          <a:xfrm>
            <a:off x="12585725" y="75242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793790" y="997863"/>
            <a:ext cx="12376547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UTICAJ PRISUTNOSTI NA ZAVRŠNU OCJENU</a:t>
            </a:r>
            <a:endParaRPr b="0" i="0" sz="4650" u="none" cap="none" strike="noStrike"/>
          </a:p>
        </p:txBody>
      </p:sp>
      <p:pic>
        <p:nvPicPr>
          <p:cNvPr descr="preencoded.png"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37435"/>
            <a:ext cx="8284131" cy="395847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/>
          <p:nvPr/>
        </p:nvSpPr>
        <p:spPr>
          <a:xfrm>
            <a:off x="2564906" y="7006117"/>
            <a:ext cx="226800" cy="226800"/>
          </a:xfrm>
          <a:prstGeom prst="roundRect">
            <a:avLst>
              <a:gd fmla="val 8063" name="adj"/>
            </a:avLst>
          </a:prstGeom>
          <a:solidFill>
            <a:srgbClr val="0033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2976430" y="7006117"/>
            <a:ext cx="10788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Prisutnost</a:t>
            </a:r>
            <a:endParaRPr b="0" i="0" sz="1750" u="none" cap="none" strike="noStrike"/>
          </a:p>
        </p:txBody>
      </p:sp>
      <p:sp>
        <p:nvSpPr>
          <p:cNvPr id="122" name="Google Shape;122;p20"/>
          <p:cNvSpPr/>
          <p:nvPr/>
        </p:nvSpPr>
        <p:spPr>
          <a:xfrm>
            <a:off x="5370930" y="7006117"/>
            <a:ext cx="226800" cy="226800"/>
          </a:xfrm>
          <a:prstGeom prst="roundRect">
            <a:avLst>
              <a:gd fmla="val 8063" name="adj"/>
            </a:avLst>
          </a:prstGeom>
          <a:solidFill>
            <a:srgbClr val="006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5695854" y="7006117"/>
            <a:ext cx="1874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Prosječna Ocjena</a:t>
            </a:r>
            <a:endParaRPr b="0" i="0" sz="1750" u="none" cap="none" strike="noStrike"/>
          </a:p>
        </p:txBody>
      </p:sp>
      <p:sp>
        <p:nvSpPr>
          <p:cNvPr id="124" name="Google Shape;124;p20"/>
          <p:cNvSpPr/>
          <p:nvPr/>
        </p:nvSpPr>
        <p:spPr>
          <a:xfrm>
            <a:off x="9638943" y="2286357"/>
            <a:ext cx="4205168" cy="399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•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Prisutnost i završna ocjena pokazuju pozitivan odnos</a:t>
            </a:r>
            <a:endParaRPr i="0" sz="1850" u="none" cap="none" strike="noStrike"/>
          </a:p>
          <a:p>
            <a:pPr indent="-349250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•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Odsjeci sa većom prisutnošću imaju viši prosjek ocjena</a:t>
            </a:r>
            <a:endParaRPr i="0" sz="1850" u="none" cap="none" strike="noStrike"/>
          </a:p>
          <a:p>
            <a:pPr indent="-349250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•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Business odsjek ima najvišu prisutnost i najvišu prosječnu ocjenu</a:t>
            </a:r>
            <a:endParaRPr i="0" sz="1850" u="none" cap="none" strike="noStrike"/>
          </a:p>
          <a:p>
            <a:pPr indent="-349250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•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CS i Mathematics imaju nižu prisutnost i niže prosječne ocjene</a:t>
            </a:r>
            <a:endParaRPr i="0" sz="1850" u="none" cap="none" strike="noStrike"/>
          </a:p>
          <a:p>
            <a:pPr indent="-349250" lvl="0" marL="3429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•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Prisutnost se pokazuje kao važan faktor akademskog uspjeha</a:t>
            </a:r>
            <a:endParaRPr i="0" sz="1850" u="none" cap="none" strike="noStrike"/>
          </a:p>
        </p:txBody>
      </p:sp>
      <p:sp>
        <p:nvSpPr>
          <p:cNvPr id="125" name="Google Shape;125;p20"/>
          <p:cNvSpPr/>
          <p:nvPr/>
        </p:nvSpPr>
        <p:spPr>
          <a:xfrm>
            <a:off x="12585725" y="75242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/>
          <p:nvPr/>
        </p:nvSpPr>
        <p:spPr>
          <a:xfrm>
            <a:off x="793790" y="714375"/>
            <a:ext cx="12344400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PROSJEČNA MIDTERM OCJENA PO ODSJEKU</a:t>
            </a:r>
            <a:endParaRPr b="0" i="0" sz="4650" u="none" cap="none" strike="noStrike"/>
          </a:p>
        </p:txBody>
      </p:sp>
      <p:sp>
        <p:nvSpPr>
          <p:cNvPr id="132" name="Google Shape;132;p21"/>
          <p:cNvSpPr/>
          <p:nvPr/>
        </p:nvSpPr>
        <p:spPr>
          <a:xfrm>
            <a:off x="670050" y="2053951"/>
            <a:ext cx="41934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Business i CS imaju najviše prosječne midterm ocjene</a:t>
            </a:r>
            <a:endParaRPr i="0" sz="1850" u="none" cap="none" strike="noStrike"/>
          </a:p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Mathematics i Engineering imaju niže prosječne midterm rezultate</a:t>
            </a:r>
            <a:endParaRPr i="0" sz="1850" u="none" cap="none" strike="noStrike"/>
          </a:p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Midterm daje rani uvid u akademski uspjeh</a:t>
            </a:r>
            <a:endParaRPr i="0" sz="1850" u="none" cap="none" strike="noStrike"/>
          </a:p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Razlike među odsjecima ukazuju na različite početne obrasce učenja</a:t>
            </a:r>
            <a:endParaRPr i="0" sz="1850" u="none" cap="none" strike="noStrike"/>
          </a:p>
          <a:p>
            <a:pPr indent="-346075" lvl="0" marL="45720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●"/>
            </a:pPr>
            <a:r>
              <a:rPr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Midterm se može koristiti kao indikator rizika prije finala</a:t>
            </a:r>
            <a:endParaRPr i="0" sz="1850" u="none" cap="none" strike="noStrike"/>
          </a:p>
        </p:txBody>
      </p:sp>
      <p:pic>
        <p:nvPicPr>
          <p:cNvPr descr="preencoded.png"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981" y="2053947"/>
            <a:ext cx="8284131" cy="46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/>
          <p:nvPr/>
        </p:nvSpPr>
        <p:spPr>
          <a:xfrm>
            <a:off x="5559981" y="6631169"/>
            <a:ext cx="82841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135" name="Google Shape;135;p21"/>
          <p:cNvSpPr/>
          <p:nvPr/>
        </p:nvSpPr>
        <p:spPr>
          <a:xfrm>
            <a:off x="12585725" y="75242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/>
          <p:nvPr/>
        </p:nvSpPr>
        <p:spPr>
          <a:xfrm>
            <a:off x="3735586" y="477202"/>
            <a:ext cx="7159109" cy="550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Petrona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STRUKTURA BODOVA PO ODSJEKU</a:t>
            </a:r>
            <a:endParaRPr b="0" i="0" sz="3450" u="none" cap="none" strike="noStrike"/>
          </a:p>
        </p:txBody>
      </p:sp>
      <p:pic>
        <p:nvPicPr>
          <p:cNvPr descr="preencoded.png" id="142" name="Google Shape;1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1858" y="1275040"/>
            <a:ext cx="11566565" cy="597431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/>
          <p:nvPr/>
        </p:nvSpPr>
        <p:spPr>
          <a:xfrm>
            <a:off x="2320171" y="7249358"/>
            <a:ext cx="167521" cy="167521"/>
          </a:xfrm>
          <a:prstGeom prst="roundRect">
            <a:avLst>
              <a:gd fmla="val 10917" name="adj"/>
            </a:avLst>
          </a:prstGeom>
          <a:solidFill>
            <a:srgbClr val="0033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2548652" y="7249358"/>
            <a:ext cx="1174552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midterm_score</a:t>
            </a:r>
            <a:endParaRPr b="0" i="0" sz="1300" u="none" cap="none" strike="noStrike"/>
          </a:p>
        </p:txBody>
      </p:sp>
      <p:sp>
        <p:nvSpPr>
          <p:cNvPr id="145" name="Google Shape;145;p22"/>
          <p:cNvSpPr/>
          <p:nvPr/>
        </p:nvSpPr>
        <p:spPr>
          <a:xfrm>
            <a:off x="4429363" y="7249358"/>
            <a:ext cx="167521" cy="167521"/>
          </a:xfrm>
          <a:prstGeom prst="roundRect">
            <a:avLst>
              <a:gd fmla="val 10917" name="adj"/>
            </a:avLst>
          </a:prstGeom>
          <a:solidFill>
            <a:srgbClr val="004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4657844" y="7249358"/>
            <a:ext cx="855226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final_score</a:t>
            </a:r>
            <a:endParaRPr b="0" i="0" sz="1300" u="none" cap="none" strike="noStrike"/>
          </a:p>
        </p:txBody>
      </p:sp>
      <p:sp>
        <p:nvSpPr>
          <p:cNvPr id="147" name="Google Shape;147;p22"/>
          <p:cNvSpPr/>
          <p:nvPr/>
        </p:nvSpPr>
        <p:spPr>
          <a:xfrm>
            <a:off x="6621899" y="7249358"/>
            <a:ext cx="167521" cy="167521"/>
          </a:xfrm>
          <a:prstGeom prst="roundRect">
            <a:avLst>
              <a:gd fmla="val 10917" name="adj"/>
            </a:avLst>
          </a:prstGeom>
          <a:solidFill>
            <a:srgbClr val="005A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6850380" y="7249358"/>
            <a:ext cx="1157764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projects_score</a:t>
            </a:r>
            <a:endParaRPr b="0" i="0" sz="1300" u="none" cap="none" strike="noStrike"/>
          </a:p>
        </p:txBody>
      </p:sp>
      <p:sp>
        <p:nvSpPr>
          <p:cNvPr id="149" name="Google Shape;149;p22"/>
          <p:cNvSpPr/>
          <p:nvPr/>
        </p:nvSpPr>
        <p:spPr>
          <a:xfrm>
            <a:off x="9058394" y="7249358"/>
            <a:ext cx="167521" cy="167521"/>
          </a:xfrm>
          <a:prstGeom prst="roundRect">
            <a:avLst>
              <a:gd fmla="val 10917" name="adj"/>
            </a:avLst>
          </a:prstGeom>
          <a:solidFill>
            <a:srgbClr val="006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>
            <a:off x="9286875" y="7249358"/>
            <a:ext cx="972503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quizzes_avg</a:t>
            </a:r>
            <a:endParaRPr b="0" i="0" sz="1300" u="none" cap="none" strike="noStrike"/>
          </a:p>
        </p:txBody>
      </p:sp>
      <p:sp>
        <p:nvSpPr>
          <p:cNvPr id="151" name="Google Shape;151;p22"/>
          <p:cNvSpPr/>
          <p:nvPr/>
        </p:nvSpPr>
        <p:spPr>
          <a:xfrm>
            <a:off x="10906958" y="7249358"/>
            <a:ext cx="167521" cy="167521"/>
          </a:xfrm>
          <a:prstGeom prst="roundRect">
            <a:avLst>
              <a:gd fmla="val 10917" name="adj"/>
            </a:avLst>
          </a:prstGeom>
          <a:solidFill>
            <a:srgbClr val="0082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11135439" y="7249358"/>
            <a:ext cx="1359813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assignments_avg</a:t>
            </a:r>
            <a:endParaRPr b="0" i="0" sz="1300" u="none" cap="none" strike="noStrike"/>
          </a:p>
        </p:txBody>
      </p:sp>
      <p:sp>
        <p:nvSpPr>
          <p:cNvPr id="153" name="Google Shape;153;p22"/>
          <p:cNvSpPr/>
          <p:nvPr/>
        </p:nvSpPr>
        <p:spPr>
          <a:xfrm>
            <a:off x="12585725" y="75242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/>
          <p:nvPr/>
        </p:nvSpPr>
        <p:spPr>
          <a:xfrm>
            <a:off x="3505503" y="717399"/>
            <a:ext cx="73224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ZAKLJUČAK I PREPORUKA</a:t>
            </a:r>
            <a:endParaRPr b="0" i="0" sz="4650" u="none" cap="none" strike="noStrike"/>
          </a:p>
        </p:txBody>
      </p:sp>
      <p:sp>
        <p:nvSpPr>
          <p:cNvPr id="160" name="Google Shape;160;p23"/>
          <p:cNvSpPr/>
          <p:nvPr/>
        </p:nvSpPr>
        <p:spPr>
          <a:xfrm>
            <a:off x="880425" y="2397908"/>
            <a:ext cx="13042800" cy="4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Inter"/>
              <a:buChar char="●"/>
            </a:pPr>
            <a:r>
              <a:rPr b="0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Prisutnost i midterm su </a:t>
            </a:r>
            <a:r>
              <a:rPr b="1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najraniji i najjači indikatori uspjeha</a:t>
            </a:r>
            <a:endParaRPr b="0" i="0" sz="3000" u="none" cap="none" strike="noStrike"/>
          </a:p>
          <a:p>
            <a:pPr indent="-41910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Inter"/>
              <a:buChar char="●"/>
            </a:pPr>
            <a:r>
              <a:rPr b="0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Razlike među odsjecima ukazuju na </a:t>
            </a:r>
            <a:r>
              <a:rPr b="1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različite potrebe za podrškom</a:t>
            </a:r>
            <a:endParaRPr b="0" i="0" sz="3000" u="none" cap="none" strike="noStrike"/>
          </a:p>
          <a:p>
            <a:pPr indent="-41910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Inter"/>
              <a:buChar char="●"/>
            </a:pPr>
            <a:r>
              <a:rPr b="0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Trenutni sistem reaguje </a:t>
            </a:r>
            <a:r>
              <a:rPr b="1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prekasno</a:t>
            </a:r>
            <a:r>
              <a:rPr b="0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nakon završnog ispita</a:t>
            </a:r>
            <a:endParaRPr b="0" i="0" sz="3000" u="none" cap="none" strike="noStrike"/>
          </a:p>
          <a:p>
            <a:pPr indent="-41910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Inter"/>
              <a:buChar char="●"/>
            </a:pPr>
            <a:r>
              <a:rPr b="0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Predlaže se uvođenje </a:t>
            </a:r>
            <a:r>
              <a:rPr b="1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BI-baziranog Early Warning pristupa</a:t>
            </a:r>
            <a:endParaRPr b="0" i="0" sz="3000" u="none" cap="none" strike="noStrike"/>
          </a:p>
          <a:p>
            <a:pPr indent="-41910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Inter"/>
              <a:buChar char="●"/>
            </a:pPr>
            <a:r>
              <a:rPr b="0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Fokus na </a:t>
            </a:r>
            <a:r>
              <a:rPr b="1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ranu intervenciju</a:t>
            </a:r>
            <a:r>
              <a:rPr b="0" i="0" lang="en-US" sz="3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umjesto reaktivnog djelovanja</a:t>
            </a:r>
            <a:endParaRPr b="0" i="0" sz="3000" u="none" cap="none" strike="noStrike"/>
          </a:p>
        </p:txBody>
      </p:sp>
      <p:sp>
        <p:nvSpPr>
          <p:cNvPr id="161" name="Google Shape;161;p23"/>
          <p:cNvSpPr/>
          <p:nvPr/>
        </p:nvSpPr>
        <p:spPr>
          <a:xfrm>
            <a:off x="12585725" y="75242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/>
          <p:nvPr/>
        </p:nvSpPr>
        <p:spPr>
          <a:xfrm>
            <a:off x="3130950" y="792350"/>
            <a:ext cx="75243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50"/>
              <a:buFont typeface="Petrona"/>
              <a:buNone/>
            </a:pPr>
            <a:r>
              <a:rPr b="1" lang="en-US" sz="465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KORELACIONA ANALIZA</a:t>
            </a:r>
            <a:endParaRPr b="0" i="0" sz="4650" u="none" cap="none" strike="noStrike">
              <a:solidFill>
                <a:schemeClr val="dk1"/>
              </a:solidFill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793796" y="1990250"/>
            <a:ext cx="3970800" cy="2610000"/>
          </a:xfrm>
          <a:prstGeom prst="roundRect">
            <a:avLst>
              <a:gd fmla="val 365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390" y="241173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/>
          <p:nvPr/>
        </p:nvSpPr>
        <p:spPr>
          <a:xfrm>
            <a:off x="1028225" y="3131971"/>
            <a:ext cx="45036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lang="en-US" sz="1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risutnost </a:t>
            </a:r>
            <a:r>
              <a:rPr b="1" lang="en-US" sz="18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↔</a:t>
            </a:r>
            <a:r>
              <a:rPr b="1" lang="en-US" sz="1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Završna ocjena</a:t>
            </a:r>
            <a:endParaRPr b="1" i="0" sz="2400" u="none" cap="none" strike="noStrike"/>
          </a:p>
        </p:txBody>
      </p:sp>
      <p:sp>
        <p:nvSpPr>
          <p:cNvPr id="172" name="Google Shape;172;p24"/>
          <p:cNvSpPr/>
          <p:nvPr/>
        </p:nvSpPr>
        <p:spPr>
          <a:xfrm>
            <a:off x="1028224" y="3640098"/>
            <a:ext cx="59390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 = +0.75 (jaka pozitivna)</a:t>
            </a:r>
            <a:endParaRPr b="0" i="0" sz="1950" u="none" cap="none" strike="noStrike"/>
          </a:p>
        </p:txBody>
      </p:sp>
      <p:sp>
        <p:nvSpPr>
          <p:cNvPr id="173" name="Google Shape;173;p24"/>
          <p:cNvSpPr/>
          <p:nvPr/>
        </p:nvSpPr>
        <p:spPr>
          <a:xfrm>
            <a:off x="9333003" y="1990250"/>
            <a:ext cx="4503600" cy="2610000"/>
          </a:xfrm>
          <a:prstGeom prst="roundRect">
            <a:avLst>
              <a:gd fmla="val 365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/>
          <p:nvPr/>
        </p:nvSpPr>
        <p:spPr>
          <a:xfrm>
            <a:off x="9568957" y="2211846"/>
            <a:ext cx="680400" cy="680400"/>
          </a:xfrm>
          <a:prstGeom prst="roundRect">
            <a:avLst>
              <a:gd fmla="val 1343698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9568957" y="3109239"/>
            <a:ext cx="2976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Midterm </a:t>
            </a:r>
            <a:r>
              <a:rPr b="1" lang="en-US" sz="19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↔</a:t>
            </a:r>
            <a:r>
              <a:rPr b="1"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Final</a:t>
            </a:r>
            <a:endParaRPr b="1" sz="1600"/>
          </a:p>
        </p:txBody>
      </p:sp>
      <p:sp>
        <p:nvSpPr>
          <p:cNvPr id="176" name="Google Shape;176;p24"/>
          <p:cNvSpPr/>
          <p:nvPr/>
        </p:nvSpPr>
        <p:spPr>
          <a:xfrm>
            <a:off x="9568952" y="3567462"/>
            <a:ext cx="4031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 = +0.82 (vrlo jaka pozitivna)</a:t>
            </a:r>
            <a:endParaRPr b="0" i="0" sz="1950" u="none" cap="none" strike="noStrike"/>
          </a:p>
        </p:txBody>
      </p:sp>
      <p:sp>
        <p:nvSpPr>
          <p:cNvPr id="177" name="Google Shape;177;p24"/>
          <p:cNvSpPr/>
          <p:nvPr/>
        </p:nvSpPr>
        <p:spPr>
          <a:xfrm>
            <a:off x="793796" y="4827150"/>
            <a:ext cx="3970800" cy="2610000"/>
          </a:xfrm>
          <a:prstGeom prst="roundRect">
            <a:avLst>
              <a:gd fmla="val 365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1028224" y="5061585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1028224" y="5968841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lang="en-US" sz="1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Departman </a:t>
            </a:r>
            <a:r>
              <a:rPr b="1" lang="en-US" sz="18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↔</a:t>
            </a:r>
            <a:r>
              <a:rPr b="1" lang="en-US" sz="1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Uspjeh</a:t>
            </a:r>
            <a:endParaRPr b="1" i="0" sz="2400" u="none" cap="none" strike="noStrike"/>
          </a:p>
        </p:txBody>
      </p:sp>
      <p:sp>
        <p:nvSpPr>
          <p:cNvPr id="180" name="Google Shape;180;p24"/>
          <p:cNvSpPr/>
          <p:nvPr/>
        </p:nvSpPr>
        <p:spPr>
          <a:xfrm>
            <a:off x="1028224" y="6477000"/>
            <a:ext cx="59390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 = +0.45 (umjerena)</a:t>
            </a:r>
            <a:endParaRPr b="0" i="0" sz="1950" u="none" cap="none" strike="noStrike"/>
          </a:p>
        </p:txBody>
      </p:sp>
      <p:sp>
        <p:nvSpPr>
          <p:cNvPr id="181" name="Google Shape;181;p24"/>
          <p:cNvSpPr/>
          <p:nvPr/>
        </p:nvSpPr>
        <p:spPr>
          <a:xfrm>
            <a:off x="9256753" y="4827150"/>
            <a:ext cx="4579800" cy="2610000"/>
          </a:xfrm>
          <a:prstGeom prst="roundRect">
            <a:avLst>
              <a:gd fmla="val 365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9482157" y="5053885"/>
            <a:ext cx="680400" cy="680400"/>
          </a:xfrm>
          <a:prstGeom prst="roundRect">
            <a:avLst>
              <a:gd fmla="val 1343698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9482157" y="5919604"/>
            <a:ext cx="37086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 exam doprinos</a:t>
            </a:r>
            <a:endParaRPr b="1" i="0" sz="2500" u="none" cap="none" strike="noStrike"/>
          </a:p>
        </p:txBody>
      </p:sp>
      <p:sp>
        <p:nvSpPr>
          <p:cNvPr id="184" name="Google Shape;184;p24"/>
          <p:cNvSpPr/>
          <p:nvPr/>
        </p:nvSpPr>
        <p:spPr>
          <a:xfrm>
            <a:off x="9482157" y="6476925"/>
            <a:ext cx="5939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 = +0.88 (dominantan uticaj)</a:t>
            </a:r>
            <a:endParaRPr b="0" i="0" sz="1950" u="none" cap="none" strike="noStrike"/>
          </a:p>
        </p:txBody>
      </p:sp>
      <p:sp>
        <p:nvSpPr>
          <p:cNvPr id="185" name="Google Shape;185;p24"/>
          <p:cNvSpPr/>
          <p:nvPr/>
        </p:nvSpPr>
        <p:spPr>
          <a:xfrm>
            <a:off x="12585725" y="75242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6115" y="2398892"/>
            <a:ext cx="306110" cy="306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390" y="5248630"/>
            <a:ext cx="306110" cy="306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9315" y="526069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/>
          <p:nvPr/>
        </p:nvSpPr>
        <p:spPr>
          <a:xfrm>
            <a:off x="4914975" y="1990250"/>
            <a:ext cx="4161300" cy="5446800"/>
          </a:xfrm>
          <a:prstGeom prst="roundRect">
            <a:avLst>
              <a:gd fmla="val 365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4"/>
          <p:cNvSpPr txBox="1"/>
          <p:nvPr/>
        </p:nvSpPr>
        <p:spPr>
          <a:xfrm>
            <a:off x="5148150" y="2289450"/>
            <a:ext cx="3708600" cy="4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KLJUČNI NALAZI </a:t>
            </a:r>
            <a:endParaRPr b="1" sz="18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3429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•"/>
            </a:pPr>
            <a:r>
              <a:rPr lang="en-US" sz="1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Svaki 10% rast prisutnosti = +2 boda na ocjeni</a:t>
            </a:r>
            <a:endParaRPr sz="1850">
              <a:solidFill>
                <a:schemeClr val="dk1"/>
              </a:solidFill>
            </a:endParaRPr>
          </a:p>
          <a:p>
            <a:pPr indent="-349250" lvl="0" marL="3429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•"/>
            </a:pPr>
            <a:r>
              <a:rPr lang="en-US" sz="1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CS : pad od 6.27 bodova (midterm→final)</a:t>
            </a:r>
            <a:endParaRPr sz="1850">
              <a:solidFill>
                <a:schemeClr val="dk1"/>
              </a:solidFill>
            </a:endParaRPr>
          </a:p>
          <a:p>
            <a:pPr indent="-349250" lvl="0" marL="3429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•"/>
            </a:pPr>
            <a:r>
              <a:rPr lang="en-US" sz="1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Business: najstabilniji (pad samo 1.31)</a:t>
            </a:r>
            <a:endParaRPr sz="1850">
              <a:solidFill>
                <a:schemeClr val="dk1"/>
              </a:solidFill>
            </a:endParaRPr>
          </a:p>
          <a:p>
            <a:pPr indent="-349250" lvl="0" marL="3429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Char char="•"/>
            </a:pPr>
            <a:r>
              <a:rPr lang="en-US" sz="1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Prisutnost objašnjava 56% varijanse ocjena (r²=0.56)</a:t>
            </a:r>
            <a:endParaRPr sz="1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/>
          <p:nvPr/>
        </p:nvSpPr>
        <p:spPr>
          <a:xfrm>
            <a:off x="12585725" y="7524200"/>
            <a:ext cx="1955400" cy="6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1439425" y="474175"/>
            <a:ext cx="10948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AKCIONI PLAN </a:t>
            </a:r>
            <a:endParaRPr sz="4650">
              <a:solidFill>
                <a:schemeClr val="dk1"/>
              </a:solidFill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581650" y="2373550"/>
            <a:ext cx="33354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7"/>
              <a:buFont typeface="Petrona"/>
              <a:buNone/>
            </a:pPr>
            <a:r>
              <a:rPr b="1" i="0" lang="en-US" sz="2576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PRIORITET 1</a:t>
            </a:r>
            <a:endParaRPr b="0" i="0" sz="2576" u="none" cap="none" strike="noStrike"/>
          </a:p>
        </p:txBody>
      </p:sp>
      <p:sp>
        <p:nvSpPr>
          <p:cNvPr id="199" name="Google Shape;199;p25"/>
          <p:cNvSpPr/>
          <p:nvPr/>
        </p:nvSpPr>
        <p:spPr>
          <a:xfrm>
            <a:off x="358875" y="3260633"/>
            <a:ext cx="44070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Povećanje prisutnosti (r=+0.75)</a:t>
            </a:r>
            <a:endParaRPr b="0" i="0" sz="1960" u="none" cap="none" strike="noStrike"/>
          </a:p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Attendance reward system</a:t>
            </a:r>
            <a:endParaRPr b="0" i="0" sz="1960" u="none" cap="none" strike="noStrike"/>
          </a:p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Očekivani efekat: 5-8% rast ocjena</a:t>
            </a:r>
            <a:endParaRPr b="0" i="0" sz="1960" u="none" cap="none" strike="noStrike"/>
          </a:p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ROI: Maksimalan</a:t>
            </a:r>
            <a:endParaRPr b="0" i="0" sz="1960" u="none" cap="none" strike="noStrike"/>
          </a:p>
        </p:txBody>
      </p:sp>
      <p:sp>
        <p:nvSpPr>
          <p:cNvPr id="200" name="Google Shape;200;p25"/>
          <p:cNvSpPr/>
          <p:nvPr/>
        </p:nvSpPr>
        <p:spPr>
          <a:xfrm>
            <a:off x="5406813" y="2311675"/>
            <a:ext cx="33354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7"/>
              <a:buFont typeface="Petrona"/>
              <a:buNone/>
            </a:pPr>
            <a:r>
              <a:rPr b="1" i="0" lang="en-US" sz="2576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PRIORITET 2</a:t>
            </a:r>
            <a:endParaRPr b="0" i="0" sz="2576" u="none" cap="none" strike="noStrike"/>
          </a:p>
        </p:txBody>
      </p:sp>
      <p:sp>
        <p:nvSpPr>
          <p:cNvPr id="201" name="Google Shape;201;p25"/>
          <p:cNvSpPr/>
          <p:nvPr/>
        </p:nvSpPr>
        <p:spPr>
          <a:xfrm>
            <a:off x="5047925" y="3061152"/>
            <a:ext cx="4407000" cy="29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Intervencija kod midterm-final pada</a:t>
            </a:r>
            <a:endParaRPr b="0" i="0" sz="1960" u="none" cap="none" strike="noStrike"/>
          </a:p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Dodatne vježbe između ispita</a:t>
            </a:r>
            <a:endParaRPr b="0" i="0" sz="1960" u="none" cap="none" strike="noStrike"/>
          </a:p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Cilj: Smanjiti pad sa 6.27 na 3-4 boda</a:t>
            </a:r>
            <a:endParaRPr b="0" i="0" sz="1960" u="none" cap="none" strike="noStrike"/>
          </a:p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Poboljšanje: 50%</a:t>
            </a:r>
            <a:endParaRPr b="0" i="0" sz="1960" u="none" cap="none" strike="noStrike"/>
          </a:p>
        </p:txBody>
      </p:sp>
      <p:sp>
        <p:nvSpPr>
          <p:cNvPr id="202" name="Google Shape;202;p25"/>
          <p:cNvSpPr/>
          <p:nvPr/>
        </p:nvSpPr>
        <p:spPr>
          <a:xfrm>
            <a:off x="10368076" y="2311675"/>
            <a:ext cx="33354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7"/>
              <a:buFont typeface="Petrona"/>
              <a:buNone/>
            </a:pPr>
            <a:r>
              <a:rPr b="1" i="0" lang="en-US" sz="2576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PRIORITET 3</a:t>
            </a:r>
            <a:endParaRPr b="0" i="0" sz="2576" u="none" cap="none" strike="noStrike"/>
          </a:p>
        </p:txBody>
      </p:sp>
      <p:sp>
        <p:nvSpPr>
          <p:cNvPr id="203" name="Google Shape;203;p25"/>
          <p:cNvSpPr/>
          <p:nvPr/>
        </p:nvSpPr>
        <p:spPr>
          <a:xfrm>
            <a:off x="10071001" y="3061158"/>
            <a:ext cx="45594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Balansirati težinu komponenti</a:t>
            </a:r>
            <a:endParaRPr b="0" i="0" sz="1960" u="none" cap="none" strike="noStrike"/>
          </a:p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Projekti: 15%→25%, </a:t>
            </a:r>
            <a:endParaRPr b="0" i="0" sz="1960" u="none" cap="none" strike="noStrike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Final: 40%→35%</a:t>
            </a:r>
            <a:endParaRPr b="0" i="0" sz="1960" u="none" cap="none" strike="noStrike"/>
          </a:p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Smanjiti "all or nothing" pritisak</a:t>
            </a:r>
            <a:endParaRPr b="0" i="0" sz="1960" u="none" cap="none" strike="noStrike"/>
          </a:p>
          <a:p>
            <a:pPr indent="-384188" lvl="0" marL="384188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Char char="•"/>
            </a:pPr>
            <a:r>
              <a:rPr b="0" i="0" lang="en-US" sz="19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Efekt: Ravnomjernija distribucija</a:t>
            </a:r>
            <a:endParaRPr b="0" i="0" sz="1960" u="none" cap="none" strike="noStrike"/>
          </a:p>
        </p:txBody>
      </p:sp>
      <p:sp>
        <p:nvSpPr>
          <p:cNvPr id="204" name="Google Shape;204;p25"/>
          <p:cNvSpPr/>
          <p:nvPr/>
        </p:nvSpPr>
        <p:spPr>
          <a:xfrm>
            <a:off x="0" y="7026004"/>
            <a:ext cx="146133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61"/>
              <a:buFont typeface="Inter"/>
              <a:buNone/>
            </a:pPr>
            <a:r>
              <a:rPr b="0" i="0" lang="en-US" sz="14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Confidence level: 95-99% | Statistički validni nalazi (p&lt;0.05)</a:t>
            </a:r>
            <a:endParaRPr b="0" i="0" sz="146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